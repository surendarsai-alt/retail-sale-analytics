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Heading Now 71-78" panose="020B0604020202020204" charset="0"/>
      <p:regular r:id="rId9"/>
    </p:embeddedFont>
    <p:embeddedFont>
      <p:font typeface="Open Sauce" panose="020B0604020202020204" charset="0"/>
      <p:regular r:id="rId10"/>
    </p:embeddedFont>
    <p:embeddedFont>
      <p:font typeface="Open Sauce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p:cViewPr varScale="1">
        <p:scale>
          <a:sx n="55" d="100"/>
          <a:sy n="55" d="100"/>
        </p:scale>
        <p:origin x="658"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svg"/><Relationship Id="rId7"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sp>
        <p:nvSpPr>
          <p:cNvPr id="2" name="TextBox 2"/>
          <p:cNvSpPr txBox="1"/>
          <p:nvPr/>
        </p:nvSpPr>
        <p:spPr>
          <a:xfrm>
            <a:off x="1798870" y="2310302"/>
            <a:ext cx="6374385" cy="1925320"/>
          </a:xfrm>
          <a:prstGeom prst="rect">
            <a:avLst/>
          </a:prstGeom>
        </p:spPr>
        <p:txBody>
          <a:bodyPr lIns="0" tIns="0" rIns="0" bIns="0" rtlCol="0" anchor="t">
            <a:spAutoFit/>
          </a:bodyPr>
          <a:lstStyle/>
          <a:p>
            <a:pPr algn="l">
              <a:lnSpc>
                <a:spcPts val="6800"/>
              </a:lnSpc>
            </a:pPr>
            <a:r>
              <a:rPr lang="en-US" sz="6800">
                <a:solidFill>
                  <a:srgbClr val="000000"/>
                </a:solidFill>
                <a:latin typeface="Heading Now 71-78"/>
                <a:ea typeface="Heading Now 71-78"/>
                <a:cs typeface="Heading Now 71-78"/>
                <a:sym typeface="Heading Now 71-78"/>
              </a:rPr>
              <a:t>Retail Sales Analytics</a:t>
            </a:r>
          </a:p>
        </p:txBody>
      </p:sp>
      <p:grpSp>
        <p:nvGrpSpPr>
          <p:cNvPr id="3" name="Group 3"/>
          <p:cNvGrpSpPr/>
          <p:nvPr/>
        </p:nvGrpSpPr>
        <p:grpSpPr>
          <a:xfrm>
            <a:off x="1616037" y="5303692"/>
            <a:ext cx="6740050" cy="358140"/>
            <a:chOff x="0" y="0"/>
            <a:chExt cx="1775157" cy="94325"/>
          </a:xfrm>
        </p:grpSpPr>
        <p:sp>
          <p:nvSpPr>
            <p:cNvPr id="4" name="Freeform 4"/>
            <p:cNvSpPr/>
            <p:nvPr/>
          </p:nvSpPr>
          <p:spPr>
            <a:xfrm>
              <a:off x="0" y="0"/>
              <a:ext cx="1775157" cy="94325"/>
            </a:xfrm>
            <a:custGeom>
              <a:avLst/>
              <a:gdLst/>
              <a:ahLst/>
              <a:cxnLst/>
              <a:rect l="l" t="t" r="r" b="b"/>
              <a:pathLst>
                <a:path w="1775157" h="94325">
                  <a:moveTo>
                    <a:pt x="11486" y="0"/>
                  </a:moveTo>
                  <a:lnTo>
                    <a:pt x="1763671" y="0"/>
                  </a:lnTo>
                  <a:cubicBezTo>
                    <a:pt x="1770014" y="0"/>
                    <a:pt x="1775157" y="5143"/>
                    <a:pt x="1775157" y="11486"/>
                  </a:cubicBezTo>
                  <a:lnTo>
                    <a:pt x="1775157" y="82838"/>
                  </a:lnTo>
                  <a:cubicBezTo>
                    <a:pt x="1775157" y="85885"/>
                    <a:pt x="1773947" y="88807"/>
                    <a:pt x="1771793" y="90961"/>
                  </a:cubicBezTo>
                  <a:cubicBezTo>
                    <a:pt x="1769639" y="93115"/>
                    <a:pt x="1766717" y="94325"/>
                    <a:pt x="1763671" y="94325"/>
                  </a:cubicBezTo>
                  <a:lnTo>
                    <a:pt x="11486" y="94325"/>
                  </a:lnTo>
                  <a:cubicBezTo>
                    <a:pt x="8440" y="94325"/>
                    <a:pt x="5518" y="93115"/>
                    <a:pt x="3364" y="90961"/>
                  </a:cubicBezTo>
                  <a:cubicBezTo>
                    <a:pt x="1210" y="88807"/>
                    <a:pt x="0" y="85885"/>
                    <a:pt x="0" y="82838"/>
                  </a:cubicBezTo>
                  <a:lnTo>
                    <a:pt x="0" y="11486"/>
                  </a:lnTo>
                  <a:cubicBezTo>
                    <a:pt x="0" y="8440"/>
                    <a:pt x="1210" y="5518"/>
                    <a:pt x="3364" y="3364"/>
                  </a:cubicBezTo>
                  <a:cubicBezTo>
                    <a:pt x="5518" y="1210"/>
                    <a:pt x="8440" y="0"/>
                    <a:pt x="11486" y="0"/>
                  </a:cubicBezTo>
                  <a:close/>
                </a:path>
              </a:pathLst>
            </a:custGeom>
            <a:solidFill>
              <a:srgbClr val="8ADDCB"/>
            </a:solidFill>
          </p:spPr>
        </p:sp>
        <p:sp>
          <p:nvSpPr>
            <p:cNvPr id="5" name="TextBox 5"/>
            <p:cNvSpPr txBox="1"/>
            <p:nvPr/>
          </p:nvSpPr>
          <p:spPr>
            <a:xfrm>
              <a:off x="0" y="-47625"/>
              <a:ext cx="1775157" cy="141950"/>
            </a:xfrm>
            <a:prstGeom prst="rect">
              <a:avLst/>
            </a:prstGeom>
          </p:spPr>
          <p:txBody>
            <a:bodyPr lIns="50800" tIns="50800" rIns="50800" bIns="50800" rtlCol="0" anchor="ctr"/>
            <a:lstStyle/>
            <a:p>
              <a:pPr algn="ctr">
                <a:lnSpc>
                  <a:spcPts val="2800"/>
                </a:lnSpc>
              </a:pPr>
              <a:endParaRPr/>
            </a:p>
          </p:txBody>
        </p:sp>
      </p:grpSp>
      <p:sp>
        <p:nvSpPr>
          <p:cNvPr id="6" name="Freeform 6"/>
          <p:cNvSpPr/>
          <p:nvPr/>
        </p:nvSpPr>
        <p:spPr>
          <a:xfrm>
            <a:off x="8916353" y="3666345"/>
            <a:ext cx="5479575" cy="5280318"/>
          </a:xfrm>
          <a:custGeom>
            <a:avLst/>
            <a:gdLst/>
            <a:ahLst/>
            <a:cxnLst/>
            <a:rect l="l" t="t" r="r" b="b"/>
            <a:pathLst>
              <a:path w="5479575" h="5280318">
                <a:moveTo>
                  <a:pt x="0" y="0"/>
                </a:moveTo>
                <a:lnTo>
                  <a:pt x="5479575" y="0"/>
                </a:lnTo>
                <a:lnTo>
                  <a:pt x="5479575" y="5280318"/>
                </a:lnTo>
                <a:lnTo>
                  <a:pt x="0" y="528031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9458179" y="2348402"/>
            <a:ext cx="7335735" cy="6268719"/>
          </a:xfrm>
          <a:custGeom>
            <a:avLst/>
            <a:gdLst/>
            <a:ahLst/>
            <a:cxnLst/>
            <a:rect l="l" t="t" r="r" b="b"/>
            <a:pathLst>
              <a:path w="7335735" h="6268719">
                <a:moveTo>
                  <a:pt x="0" y="0"/>
                </a:moveTo>
                <a:lnTo>
                  <a:pt x="7335735" y="0"/>
                </a:lnTo>
                <a:lnTo>
                  <a:pt x="7335735" y="6268719"/>
                </a:lnTo>
                <a:lnTo>
                  <a:pt x="0" y="626871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5396575" y="2289134"/>
            <a:ext cx="899695" cy="1198141"/>
          </a:xfrm>
          <a:custGeom>
            <a:avLst/>
            <a:gdLst/>
            <a:ahLst/>
            <a:cxnLst/>
            <a:rect l="l" t="t" r="r" b="b"/>
            <a:pathLst>
              <a:path w="899695" h="1198141">
                <a:moveTo>
                  <a:pt x="0" y="0"/>
                </a:moveTo>
                <a:lnTo>
                  <a:pt x="899695" y="0"/>
                </a:lnTo>
                <a:lnTo>
                  <a:pt x="899695" y="1198141"/>
                </a:lnTo>
                <a:lnTo>
                  <a:pt x="0" y="119814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8580752" y="2348402"/>
            <a:ext cx="1376732" cy="518152"/>
          </a:xfrm>
          <a:custGeom>
            <a:avLst/>
            <a:gdLst/>
            <a:ahLst/>
            <a:cxnLst/>
            <a:rect l="l" t="t" r="r" b="b"/>
            <a:pathLst>
              <a:path w="1376732" h="518152">
                <a:moveTo>
                  <a:pt x="0" y="0"/>
                </a:moveTo>
                <a:lnTo>
                  <a:pt x="1376732" y="0"/>
                </a:lnTo>
                <a:lnTo>
                  <a:pt x="1376732" y="518152"/>
                </a:lnTo>
                <a:lnTo>
                  <a:pt x="0" y="51815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9246576" flipH="1" flipV="1">
            <a:off x="406282" y="9252929"/>
            <a:ext cx="936507" cy="468254"/>
          </a:xfrm>
          <a:custGeom>
            <a:avLst/>
            <a:gdLst/>
            <a:ahLst/>
            <a:cxnLst/>
            <a:rect l="l" t="t" r="r" b="b"/>
            <a:pathLst>
              <a:path w="936507" h="468254">
                <a:moveTo>
                  <a:pt x="936508" y="468254"/>
                </a:moveTo>
                <a:lnTo>
                  <a:pt x="0" y="468254"/>
                </a:lnTo>
                <a:lnTo>
                  <a:pt x="0" y="0"/>
                </a:lnTo>
                <a:lnTo>
                  <a:pt x="936508" y="0"/>
                </a:lnTo>
                <a:lnTo>
                  <a:pt x="936508" y="468254"/>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flipV="1">
            <a:off x="-655993" y="186244"/>
            <a:ext cx="2342288" cy="1648119"/>
          </a:xfrm>
          <a:custGeom>
            <a:avLst/>
            <a:gdLst/>
            <a:ahLst/>
            <a:cxnLst/>
            <a:rect l="l" t="t" r="r" b="b"/>
            <a:pathLst>
              <a:path w="2342288" h="1648119">
                <a:moveTo>
                  <a:pt x="0" y="1648119"/>
                </a:moveTo>
                <a:lnTo>
                  <a:pt x="2342288" y="1648119"/>
                </a:lnTo>
                <a:lnTo>
                  <a:pt x="2342288" y="0"/>
                </a:lnTo>
                <a:lnTo>
                  <a:pt x="0" y="0"/>
                </a:lnTo>
                <a:lnTo>
                  <a:pt x="0" y="1648119"/>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17281013" y="588014"/>
            <a:ext cx="391689" cy="1203962"/>
          </a:xfrm>
          <a:custGeom>
            <a:avLst/>
            <a:gdLst/>
            <a:ahLst/>
            <a:cxnLst/>
            <a:rect l="l" t="t" r="r" b="b"/>
            <a:pathLst>
              <a:path w="391689" h="1203962">
                <a:moveTo>
                  <a:pt x="0" y="0"/>
                </a:moveTo>
                <a:lnTo>
                  <a:pt x="391689" y="0"/>
                </a:lnTo>
                <a:lnTo>
                  <a:pt x="391689" y="1203962"/>
                </a:lnTo>
                <a:lnTo>
                  <a:pt x="0" y="120396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3" name="Freeform 13"/>
          <p:cNvSpPr/>
          <p:nvPr/>
        </p:nvSpPr>
        <p:spPr>
          <a:xfrm rot="5400000">
            <a:off x="17073343" y="8273325"/>
            <a:ext cx="2246727" cy="2427463"/>
          </a:xfrm>
          <a:custGeom>
            <a:avLst/>
            <a:gdLst/>
            <a:ahLst/>
            <a:cxnLst/>
            <a:rect l="l" t="t" r="r" b="b"/>
            <a:pathLst>
              <a:path w="2246727" h="2427463">
                <a:moveTo>
                  <a:pt x="0" y="0"/>
                </a:moveTo>
                <a:lnTo>
                  <a:pt x="2246727" y="0"/>
                </a:lnTo>
                <a:lnTo>
                  <a:pt x="2246727" y="2427462"/>
                </a:lnTo>
                <a:lnTo>
                  <a:pt x="0" y="242746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4" name="Freeform 14"/>
          <p:cNvSpPr/>
          <p:nvPr/>
        </p:nvSpPr>
        <p:spPr>
          <a:xfrm>
            <a:off x="9650002" y="7305080"/>
            <a:ext cx="579543" cy="828903"/>
          </a:xfrm>
          <a:custGeom>
            <a:avLst/>
            <a:gdLst/>
            <a:ahLst/>
            <a:cxnLst/>
            <a:rect l="l" t="t" r="r" b="b"/>
            <a:pathLst>
              <a:path w="579543" h="828903">
                <a:moveTo>
                  <a:pt x="0" y="0"/>
                </a:moveTo>
                <a:lnTo>
                  <a:pt x="579543" y="0"/>
                </a:lnTo>
                <a:lnTo>
                  <a:pt x="579543" y="828904"/>
                </a:lnTo>
                <a:lnTo>
                  <a:pt x="0" y="828904"/>
                </a:lnTo>
                <a:lnTo>
                  <a:pt x="0" y="0"/>
                </a:lnTo>
                <a:close/>
              </a:path>
            </a:pathLst>
          </a:custGeom>
          <a:blipFill>
            <a:blip>
              <a:extLst>
                <a:ext uri="{96DAC541-7B7A-43D3-8B79-37D633B846F1}">
                  <asvg:svgBlip xmlns:asvg="http://schemas.microsoft.com/office/drawing/2016/SVG/main" r:embed="rId4"/>
                </a:ext>
              </a:extLst>
            </a:blip>
            <a:stretch>
              <a:fillRect r="-55242" b="-44545"/>
            </a:stretch>
          </a:blipFill>
        </p:spPr>
      </p:sp>
      <p:sp>
        <p:nvSpPr>
          <p:cNvPr id="15" name="TextBox 15"/>
          <p:cNvSpPr txBox="1"/>
          <p:nvPr/>
        </p:nvSpPr>
        <p:spPr>
          <a:xfrm>
            <a:off x="1798870" y="5256067"/>
            <a:ext cx="6934651" cy="405765"/>
          </a:xfrm>
          <a:prstGeom prst="rect">
            <a:avLst/>
          </a:prstGeom>
        </p:spPr>
        <p:txBody>
          <a:bodyPr lIns="0" tIns="0" rIns="0" bIns="0" rtlCol="0" anchor="t">
            <a:spAutoFit/>
          </a:bodyPr>
          <a:lstStyle/>
          <a:p>
            <a:pPr algn="l">
              <a:lnSpc>
                <a:spcPts val="3359"/>
              </a:lnSpc>
            </a:pPr>
            <a:r>
              <a:rPr lang="en-US" sz="2400" b="1">
                <a:solidFill>
                  <a:srgbClr val="000000"/>
                </a:solidFill>
                <a:latin typeface="Open Sauce Bold"/>
                <a:ea typeface="Open Sauce Bold"/>
                <a:cs typeface="Open Sauce Bold"/>
                <a:sym typeface="Open Sauce Bold"/>
              </a:rPr>
              <a:t>Monitoring Business Sales Performance</a:t>
            </a:r>
          </a:p>
        </p:txBody>
      </p:sp>
      <p:sp>
        <p:nvSpPr>
          <p:cNvPr id="16" name="TextBox 16"/>
          <p:cNvSpPr txBox="1"/>
          <p:nvPr/>
        </p:nvSpPr>
        <p:spPr>
          <a:xfrm>
            <a:off x="1811002" y="6416499"/>
            <a:ext cx="2219452" cy="349250"/>
          </a:xfrm>
          <a:prstGeom prst="rect">
            <a:avLst/>
          </a:prstGeom>
        </p:spPr>
        <p:txBody>
          <a:bodyPr lIns="0" tIns="0" rIns="0" bIns="0" rtlCol="0" anchor="t">
            <a:spAutoFit/>
          </a:bodyPr>
          <a:lstStyle/>
          <a:p>
            <a:pPr algn="l">
              <a:lnSpc>
                <a:spcPts val="2800"/>
              </a:lnSpc>
            </a:pPr>
            <a:r>
              <a:rPr lang="en-US" sz="2000">
                <a:solidFill>
                  <a:srgbClr val="000000"/>
                </a:solidFill>
                <a:latin typeface="Open Sauce"/>
                <a:ea typeface="Open Sauce"/>
                <a:cs typeface="Open Sauce"/>
                <a:sym typeface="Open Sauce"/>
              </a:rPr>
              <a:t>PRESENTED BY :</a:t>
            </a:r>
          </a:p>
        </p:txBody>
      </p:sp>
      <p:sp>
        <p:nvSpPr>
          <p:cNvPr id="17" name="TextBox 17"/>
          <p:cNvSpPr txBox="1"/>
          <p:nvPr/>
        </p:nvSpPr>
        <p:spPr>
          <a:xfrm>
            <a:off x="4197918" y="6401437"/>
            <a:ext cx="2495747" cy="349250"/>
          </a:xfrm>
          <a:prstGeom prst="rect">
            <a:avLst/>
          </a:prstGeom>
        </p:spPr>
        <p:txBody>
          <a:bodyPr lIns="0" tIns="0" rIns="0" bIns="0" rtlCol="0" anchor="t">
            <a:spAutoFit/>
          </a:bodyPr>
          <a:lstStyle/>
          <a:p>
            <a:pPr algn="l">
              <a:lnSpc>
                <a:spcPts val="2800"/>
              </a:lnSpc>
            </a:pPr>
            <a:r>
              <a:rPr lang="en-US" sz="2000">
                <a:solidFill>
                  <a:srgbClr val="000000"/>
                </a:solidFill>
                <a:latin typeface="Open Sauce"/>
                <a:ea typeface="Open Sauce"/>
                <a:cs typeface="Open Sauce"/>
                <a:sym typeface="Open Sauce"/>
              </a:rPr>
              <a:t>SURENDARSAI K</a:t>
            </a:r>
          </a:p>
        </p:txBody>
      </p:sp>
      <p:sp>
        <p:nvSpPr>
          <p:cNvPr id="18" name="TextBox 18"/>
          <p:cNvSpPr txBox="1"/>
          <p:nvPr/>
        </p:nvSpPr>
        <p:spPr>
          <a:xfrm>
            <a:off x="1811002" y="6897664"/>
            <a:ext cx="5688355" cy="349250"/>
          </a:xfrm>
          <a:prstGeom prst="rect">
            <a:avLst/>
          </a:prstGeom>
        </p:spPr>
        <p:txBody>
          <a:bodyPr lIns="0" tIns="0" rIns="0" bIns="0" rtlCol="0" anchor="t">
            <a:spAutoFit/>
          </a:bodyPr>
          <a:lstStyle/>
          <a:p>
            <a:pPr algn="l">
              <a:lnSpc>
                <a:spcPts val="2800"/>
              </a:lnSpc>
            </a:pPr>
            <a:r>
              <a:rPr lang="en-US" sz="2000">
                <a:solidFill>
                  <a:srgbClr val="000000"/>
                </a:solidFill>
                <a:latin typeface="Open Sauce"/>
                <a:ea typeface="Open Sauce"/>
                <a:cs typeface="Open Sauce"/>
                <a:sym typeface="Open Sauce"/>
              </a:rPr>
              <a:t>MENTOR            :     PRAKALYA GAYATHRI</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grpSp>
        <p:nvGrpSpPr>
          <p:cNvPr id="2" name="Group 2"/>
          <p:cNvGrpSpPr/>
          <p:nvPr/>
        </p:nvGrpSpPr>
        <p:grpSpPr>
          <a:xfrm>
            <a:off x="9381119" y="1457854"/>
            <a:ext cx="8906881" cy="7371292"/>
            <a:chOff x="0" y="0"/>
            <a:chExt cx="1379909" cy="1142006"/>
          </a:xfrm>
        </p:grpSpPr>
        <p:sp>
          <p:nvSpPr>
            <p:cNvPr id="3" name="Freeform 3"/>
            <p:cNvSpPr/>
            <p:nvPr/>
          </p:nvSpPr>
          <p:spPr>
            <a:xfrm>
              <a:off x="0" y="0"/>
              <a:ext cx="1379909" cy="1142006"/>
            </a:xfrm>
            <a:custGeom>
              <a:avLst/>
              <a:gdLst/>
              <a:ahLst/>
              <a:cxnLst/>
              <a:rect l="l" t="t" r="r" b="b"/>
              <a:pathLst>
                <a:path w="1379909" h="1142006">
                  <a:moveTo>
                    <a:pt x="26076" y="0"/>
                  </a:moveTo>
                  <a:lnTo>
                    <a:pt x="1353833" y="0"/>
                  </a:lnTo>
                  <a:cubicBezTo>
                    <a:pt x="1368234" y="0"/>
                    <a:pt x="1379909" y="11675"/>
                    <a:pt x="1379909" y="26076"/>
                  </a:cubicBezTo>
                  <a:lnTo>
                    <a:pt x="1379909" y="1115930"/>
                  </a:lnTo>
                  <a:cubicBezTo>
                    <a:pt x="1379909" y="1130331"/>
                    <a:pt x="1368234" y="1142006"/>
                    <a:pt x="1353833" y="1142006"/>
                  </a:cubicBezTo>
                  <a:lnTo>
                    <a:pt x="26076" y="1142006"/>
                  </a:lnTo>
                  <a:cubicBezTo>
                    <a:pt x="11675" y="1142006"/>
                    <a:pt x="0" y="1130331"/>
                    <a:pt x="0" y="1115930"/>
                  </a:cubicBezTo>
                  <a:lnTo>
                    <a:pt x="0" y="26076"/>
                  </a:lnTo>
                  <a:cubicBezTo>
                    <a:pt x="0" y="11675"/>
                    <a:pt x="11675" y="0"/>
                    <a:pt x="26076" y="0"/>
                  </a:cubicBezTo>
                  <a:close/>
                </a:path>
              </a:pathLst>
            </a:custGeom>
            <a:solidFill>
              <a:srgbClr val="FCF3D4"/>
            </a:solidFill>
          </p:spPr>
        </p:sp>
      </p:grpSp>
      <p:sp>
        <p:nvSpPr>
          <p:cNvPr id="4" name="Freeform 4"/>
          <p:cNvSpPr/>
          <p:nvPr/>
        </p:nvSpPr>
        <p:spPr>
          <a:xfrm>
            <a:off x="10584133" y="1574006"/>
            <a:ext cx="7048129" cy="7138988"/>
          </a:xfrm>
          <a:custGeom>
            <a:avLst/>
            <a:gdLst/>
            <a:ahLst/>
            <a:cxnLst/>
            <a:rect l="l" t="t" r="r" b="b"/>
            <a:pathLst>
              <a:path w="7048129" h="7138988">
                <a:moveTo>
                  <a:pt x="0" y="0"/>
                </a:moveTo>
                <a:lnTo>
                  <a:pt x="7048129" y="0"/>
                </a:lnTo>
                <a:lnTo>
                  <a:pt x="7048129" y="7138988"/>
                </a:lnTo>
                <a:lnTo>
                  <a:pt x="0" y="713898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545381" y="2550986"/>
            <a:ext cx="8838401" cy="872034"/>
          </a:xfrm>
          <a:prstGeom prst="rect">
            <a:avLst/>
          </a:prstGeom>
        </p:spPr>
        <p:txBody>
          <a:bodyPr lIns="0" tIns="0" rIns="0" bIns="0" rtlCol="0" anchor="t">
            <a:spAutoFit/>
          </a:bodyPr>
          <a:lstStyle/>
          <a:p>
            <a:pPr algn="l">
              <a:lnSpc>
                <a:spcPts val="6800"/>
              </a:lnSpc>
            </a:pPr>
            <a:r>
              <a:rPr lang="en-US" sz="6800" dirty="0">
                <a:solidFill>
                  <a:srgbClr val="000000"/>
                </a:solidFill>
                <a:latin typeface="Heading Now 71-78"/>
                <a:ea typeface="Heading Now 71-78"/>
                <a:cs typeface="Heading Now 71-78"/>
                <a:sym typeface="Heading Now 71-78"/>
              </a:rPr>
              <a:t>Objective</a:t>
            </a:r>
          </a:p>
        </p:txBody>
      </p:sp>
      <p:sp>
        <p:nvSpPr>
          <p:cNvPr id="6" name="Freeform 6"/>
          <p:cNvSpPr/>
          <p:nvPr/>
        </p:nvSpPr>
        <p:spPr>
          <a:xfrm>
            <a:off x="342551" y="6738823"/>
            <a:ext cx="3543259" cy="3414413"/>
          </a:xfrm>
          <a:custGeom>
            <a:avLst/>
            <a:gdLst/>
            <a:ahLst/>
            <a:cxnLst/>
            <a:rect l="l" t="t" r="r" b="b"/>
            <a:pathLst>
              <a:path w="3543259" h="3414413">
                <a:moveTo>
                  <a:pt x="0" y="0"/>
                </a:moveTo>
                <a:lnTo>
                  <a:pt x="3543259" y="0"/>
                </a:lnTo>
                <a:lnTo>
                  <a:pt x="3543259" y="3414414"/>
                </a:lnTo>
                <a:lnTo>
                  <a:pt x="0" y="341441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545381" y="4031734"/>
            <a:ext cx="6636310" cy="3919022"/>
          </a:xfrm>
          <a:prstGeom prst="rect">
            <a:avLst/>
          </a:prstGeom>
        </p:spPr>
        <p:txBody>
          <a:bodyPr lIns="0" tIns="0" rIns="0" bIns="0" rtlCol="0" anchor="t">
            <a:spAutoFit/>
          </a:bodyPr>
          <a:lstStyle/>
          <a:p>
            <a:pPr>
              <a:lnSpc>
                <a:spcPts val="2800"/>
              </a:lnSpc>
            </a:pPr>
            <a:r>
              <a:rPr lang="en-US" sz="2000" dirty="0">
                <a:solidFill>
                  <a:srgbClr val="000000"/>
                </a:solidFill>
                <a:latin typeface="Open Sauce"/>
                <a:ea typeface="Open Sauce"/>
                <a:cs typeface="Open Sauce"/>
                <a:sym typeface="Open Sauce"/>
              </a:rPr>
              <a:t>This project develops a retail sales analytics solution to analyze sales performance, order trends, inventory, and customer behavior. Cleaned data from Excel was analyzed using SQL for business insights and Python for RFM analysis and customer segmentation.</a:t>
            </a:r>
          </a:p>
          <a:p>
            <a:pPr>
              <a:lnSpc>
                <a:spcPts val="2800"/>
              </a:lnSpc>
            </a:pPr>
            <a:r>
              <a:rPr lang="en-IN" sz="2000" dirty="0">
                <a:solidFill>
                  <a:srgbClr val="000000"/>
                </a:solidFill>
                <a:latin typeface="Open Sauce"/>
              </a:rPr>
              <a:t>The main objectives of my project are to </a:t>
            </a:r>
            <a:r>
              <a:rPr lang="en-IN" sz="2000" dirty="0" err="1">
                <a:solidFill>
                  <a:srgbClr val="000000"/>
                </a:solidFill>
                <a:latin typeface="Open Sauce"/>
              </a:rPr>
              <a:t>analyze</a:t>
            </a:r>
            <a:r>
              <a:rPr lang="en-IN" sz="2000" dirty="0">
                <a:solidFill>
                  <a:srgbClr val="000000"/>
                </a:solidFill>
                <a:latin typeface="Open Sauce"/>
              </a:rPr>
              <a:t> sales and order performance, understand product and inventory levels, </a:t>
            </a:r>
            <a:r>
              <a:rPr lang="en-IN" sz="2000" dirty="0" err="1">
                <a:solidFill>
                  <a:srgbClr val="000000"/>
                </a:solidFill>
                <a:latin typeface="Open Sauce"/>
              </a:rPr>
              <a:t>analyze</a:t>
            </a:r>
            <a:r>
              <a:rPr lang="en-IN" sz="2000" dirty="0">
                <a:solidFill>
                  <a:srgbClr val="000000"/>
                </a:solidFill>
                <a:latin typeface="Open Sauce"/>
              </a:rPr>
              <a:t> customer purchasing </a:t>
            </a:r>
            <a:r>
              <a:rPr lang="en-IN" sz="2000" dirty="0" err="1">
                <a:solidFill>
                  <a:srgbClr val="000000"/>
                </a:solidFill>
                <a:latin typeface="Open Sauce"/>
              </a:rPr>
              <a:t>behavior</a:t>
            </a:r>
            <a:r>
              <a:rPr lang="en-IN" sz="2000" dirty="0">
                <a:solidFill>
                  <a:srgbClr val="000000"/>
                </a:solidFill>
                <a:latin typeface="Open Sauce"/>
              </a:rPr>
              <a:t>, and finally present these insights through interactive Power BI dashboards</a:t>
            </a:r>
            <a:endParaRPr lang="en-US" sz="2000" dirty="0">
              <a:solidFill>
                <a:srgbClr val="000000"/>
              </a:solidFill>
              <a:latin typeface="Open Sauce"/>
              <a:sym typeface="Open Sauce"/>
            </a:endParaRPr>
          </a:p>
        </p:txBody>
      </p:sp>
      <p:sp>
        <p:nvSpPr>
          <p:cNvPr id="8" name="Freeform 8"/>
          <p:cNvSpPr/>
          <p:nvPr/>
        </p:nvSpPr>
        <p:spPr>
          <a:xfrm rot="1061095">
            <a:off x="2908739" y="9220466"/>
            <a:ext cx="1376732" cy="518152"/>
          </a:xfrm>
          <a:custGeom>
            <a:avLst/>
            <a:gdLst/>
            <a:ahLst/>
            <a:cxnLst/>
            <a:rect l="l" t="t" r="r" b="b"/>
            <a:pathLst>
              <a:path w="1376732" h="518152">
                <a:moveTo>
                  <a:pt x="0" y="0"/>
                </a:moveTo>
                <a:lnTo>
                  <a:pt x="1376732" y="0"/>
                </a:lnTo>
                <a:lnTo>
                  <a:pt x="1376732" y="518152"/>
                </a:lnTo>
                <a:lnTo>
                  <a:pt x="0" y="518152"/>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10555628" flipH="1" flipV="1">
            <a:off x="9162652" y="8163312"/>
            <a:ext cx="1130873" cy="565436"/>
          </a:xfrm>
          <a:custGeom>
            <a:avLst/>
            <a:gdLst/>
            <a:ahLst/>
            <a:cxnLst/>
            <a:rect l="l" t="t" r="r" b="b"/>
            <a:pathLst>
              <a:path w="1130873" h="565436">
                <a:moveTo>
                  <a:pt x="1130873" y="565436"/>
                </a:moveTo>
                <a:lnTo>
                  <a:pt x="0" y="565436"/>
                </a:lnTo>
                <a:lnTo>
                  <a:pt x="0" y="0"/>
                </a:lnTo>
                <a:lnTo>
                  <a:pt x="1130873" y="0"/>
                </a:lnTo>
                <a:lnTo>
                  <a:pt x="1130873" y="565436"/>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flipH="1" flipV="1">
            <a:off x="16351539" y="301369"/>
            <a:ext cx="2314397" cy="1628494"/>
          </a:xfrm>
          <a:custGeom>
            <a:avLst/>
            <a:gdLst/>
            <a:ahLst/>
            <a:cxnLst/>
            <a:rect l="l" t="t" r="r" b="b"/>
            <a:pathLst>
              <a:path w="2314397" h="1628494">
                <a:moveTo>
                  <a:pt x="2314397" y="1628494"/>
                </a:moveTo>
                <a:lnTo>
                  <a:pt x="0" y="1628494"/>
                </a:lnTo>
                <a:lnTo>
                  <a:pt x="0" y="0"/>
                </a:lnTo>
                <a:lnTo>
                  <a:pt x="2314397" y="0"/>
                </a:lnTo>
                <a:lnTo>
                  <a:pt x="2314397" y="1628494"/>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a:off x="637011" y="725901"/>
            <a:ext cx="391689" cy="1203962"/>
          </a:xfrm>
          <a:custGeom>
            <a:avLst/>
            <a:gdLst/>
            <a:ahLst/>
            <a:cxnLst/>
            <a:rect l="l" t="t" r="r" b="b"/>
            <a:pathLst>
              <a:path w="391689" h="1203962">
                <a:moveTo>
                  <a:pt x="0" y="0"/>
                </a:moveTo>
                <a:lnTo>
                  <a:pt x="391689" y="0"/>
                </a:lnTo>
                <a:lnTo>
                  <a:pt x="391689" y="1203962"/>
                </a:lnTo>
                <a:lnTo>
                  <a:pt x="0" y="120396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5345371" y="3806050"/>
            <a:ext cx="579543" cy="828903"/>
          </a:xfrm>
          <a:custGeom>
            <a:avLst/>
            <a:gdLst/>
            <a:ahLst/>
            <a:cxnLst/>
            <a:rect l="l" t="t" r="r" b="b"/>
            <a:pathLst>
              <a:path w="579543" h="828903">
                <a:moveTo>
                  <a:pt x="0" y="0"/>
                </a:moveTo>
                <a:lnTo>
                  <a:pt x="579543" y="0"/>
                </a:lnTo>
                <a:lnTo>
                  <a:pt x="579543" y="828904"/>
                </a:lnTo>
                <a:lnTo>
                  <a:pt x="0" y="828904"/>
                </a:lnTo>
                <a:lnTo>
                  <a:pt x="0" y="0"/>
                </a:lnTo>
                <a:close/>
              </a:path>
            </a:pathLst>
          </a:custGeom>
          <a:blipFill>
            <a:blip>
              <a:extLst>
                <a:ext uri="{96DAC541-7B7A-43D3-8B79-37D633B846F1}">
                  <asvg:svgBlip xmlns:asvg="http://schemas.microsoft.com/office/drawing/2016/SVG/main" r:embed="rId8"/>
                </a:ext>
              </a:extLst>
            </a:blip>
            <a:stretch>
              <a:fillRect r="-55242" b="-44545"/>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sp>
        <p:nvSpPr>
          <p:cNvPr id="2" name="Freeform 2"/>
          <p:cNvSpPr/>
          <p:nvPr/>
        </p:nvSpPr>
        <p:spPr>
          <a:xfrm>
            <a:off x="11198443" y="3642170"/>
            <a:ext cx="4133394" cy="3983089"/>
          </a:xfrm>
          <a:custGeom>
            <a:avLst/>
            <a:gdLst/>
            <a:ahLst/>
            <a:cxnLst/>
            <a:rect l="l" t="t" r="r" b="b"/>
            <a:pathLst>
              <a:path w="4133394" h="3983089">
                <a:moveTo>
                  <a:pt x="0" y="0"/>
                </a:moveTo>
                <a:lnTo>
                  <a:pt x="4133395" y="0"/>
                </a:lnTo>
                <a:lnTo>
                  <a:pt x="4133395" y="3983089"/>
                </a:lnTo>
                <a:lnTo>
                  <a:pt x="0" y="398308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417823" y="863925"/>
            <a:ext cx="6529561" cy="1925320"/>
          </a:xfrm>
          <a:prstGeom prst="rect">
            <a:avLst/>
          </a:prstGeom>
        </p:spPr>
        <p:txBody>
          <a:bodyPr lIns="0" tIns="0" rIns="0" bIns="0" rtlCol="0" anchor="t">
            <a:spAutoFit/>
          </a:bodyPr>
          <a:lstStyle/>
          <a:p>
            <a:pPr algn="l">
              <a:lnSpc>
                <a:spcPts val="6800"/>
              </a:lnSpc>
            </a:pPr>
            <a:r>
              <a:rPr lang="en-US" sz="6800">
                <a:solidFill>
                  <a:srgbClr val="000000"/>
                </a:solidFill>
                <a:latin typeface="Heading Now 71-78"/>
                <a:ea typeface="Heading Now 71-78"/>
                <a:cs typeface="Heading Now 71-78"/>
                <a:sym typeface="Heading Now 71-78"/>
              </a:rPr>
              <a:t>Problem Statement</a:t>
            </a:r>
          </a:p>
        </p:txBody>
      </p:sp>
      <p:sp>
        <p:nvSpPr>
          <p:cNvPr id="4" name="Freeform 4"/>
          <p:cNvSpPr/>
          <p:nvPr/>
        </p:nvSpPr>
        <p:spPr>
          <a:xfrm rot="-1299478">
            <a:off x="1019889" y="1137787"/>
            <a:ext cx="1376732" cy="518152"/>
          </a:xfrm>
          <a:custGeom>
            <a:avLst/>
            <a:gdLst/>
            <a:ahLst/>
            <a:cxnLst/>
            <a:rect l="l" t="t" r="r" b="b"/>
            <a:pathLst>
              <a:path w="1376732" h="518152">
                <a:moveTo>
                  <a:pt x="0" y="0"/>
                </a:moveTo>
                <a:lnTo>
                  <a:pt x="1376732" y="0"/>
                </a:lnTo>
                <a:lnTo>
                  <a:pt x="1376732" y="518152"/>
                </a:lnTo>
                <a:lnTo>
                  <a:pt x="0" y="51815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555628" flipH="1" flipV="1">
            <a:off x="17074840" y="4462391"/>
            <a:ext cx="690252" cy="345126"/>
          </a:xfrm>
          <a:custGeom>
            <a:avLst/>
            <a:gdLst/>
            <a:ahLst/>
            <a:cxnLst/>
            <a:rect l="l" t="t" r="r" b="b"/>
            <a:pathLst>
              <a:path w="690252" h="345126">
                <a:moveTo>
                  <a:pt x="690252" y="345126"/>
                </a:moveTo>
                <a:lnTo>
                  <a:pt x="0" y="345126"/>
                </a:lnTo>
                <a:lnTo>
                  <a:pt x="0" y="0"/>
                </a:lnTo>
                <a:lnTo>
                  <a:pt x="690252" y="0"/>
                </a:lnTo>
                <a:lnTo>
                  <a:pt x="690252" y="345126"/>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16351539" y="127537"/>
            <a:ext cx="2561446" cy="1802326"/>
          </a:xfrm>
          <a:custGeom>
            <a:avLst/>
            <a:gdLst/>
            <a:ahLst/>
            <a:cxnLst/>
            <a:rect l="l" t="t" r="r" b="b"/>
            <a:pathLst>
              <a:path w="2561446" h="1802326">
                <a:moveTo>
                  <a:pt x="2561445" y="1802326"/>
                </a:moveTo>
                <a:lnTo>
                  <a:pt x="0" y="1802326"/>
                </a:lnTo>
                <a:lnTo>
                  <a:pt x="0" y="0"/>
                </a:lnTo>
                <a:lnTo>
                  <a:pt x="2561445" y="0"/>
                </a:lnTo>
                <a:lnTo>
                  <a:pt x="2561445" y="1802326"/>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7063456" y="8012619"/>
            <a:ext cx="391689" cy="1203962"/>
          </a:xfrm>
          <a:custGeom>
            <a:avLst/>
            <a:gdLst/>
            <a:ahLst/>
            <a:cxnLst/>
            <a:rect l="l" t="t" r="r" b="b"/>
            <a:pathLst>
              <a:path w="391689" h="1203962">
                <a:moveTo>
                  <a:pt x="0" y="0"/>
                </a:moveTo>
                <a:lnTo>
                  <a:pt x="391688" y="0"/>
                </a:lnTo>
                <a:lnTo>
                  <a:pt x="391688" y="1203962"/>
                </a:lnTo>
                <a:lnTo>
                  <a:pt x="0" y="120396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rot="10119928">
            <a:off x="-94664" y="8446291"/>
            <a:ext cx="2246727" cy="2427463"/>
          </a:xfrm>
          <a:custGeom>
            <a:avLst/>
            <a:gdLst/>
            <a:ahLst/>
            <a:cxnLst/>
            <a:rect l="l" t="t" r="r" b="b"/>
            <a:pathLst>
              <a:path w="2246727" h="2427463">
                <a:moveTo>
                  <a:pt x="0" y="0"/>
                </a:moveTo>
                <a:lnTo>
                  <a:pt x="2246728" y="0"/>
                </a:lnTo>
                <a:lnTo>
                  <a:pt x="2246728" y="2427462"/>
                </a:lnTo>
                <a:lnTo>
                  <a:pt x="0" y="242746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3564292" y="3604070"/>
            <a:ext cx="12347987" cy="3389067"/>
          </a:xfrm>
          <a:prstGeom prst="rect">
            <a:avLst/>
          </a:prstGeom>
        </p:spPr>
        <p:txBody>
          <a:bodyPr lIns="0" tIns="0" rIns="0" bIns="0" rtlCol="0" anchor="t">
            <a:spAutoFit/>
          </a:bodyPr>
          <a:lstStyle/>
          <a:p>
            <a:pPr marL="463614" lvl="1" indent="-231807" algn="l">
              <a:lnSpc>
                <a:spcPts val="3006"/>
              </a:lnSpc>
              <a:buFont typeface="Arial"/>
              <a:buChar char="•"/>
            </a:pPr>
            <a:r>
              <a:rPr lang="en-US" sz="2147">
                <a:solidFill>
                  <a:srgbClr val="000000"/>
                </a:solidFill>
                <a:latin typeface="Open Sauce"/>
                <a:ea typeface="Open Sauce"/>
                <a:cs typeface="Open Sauce"/>
                <a:sym typeface="Open Sauce"/>
              </a:rPr>
              <a:t>Retail businesses generate large volumes of sales, order, product, inventory, and customer data.</a:t>
            </a:r>
          </a:p>
          <a:p>
            <a:pPr marL="463614" lvl="1" indent="-231807" algn="l">
              <a:lnSpc>
                <a:spcPts val="3006"/>
              </a:lnSpc>
              <a:buFont typeface="Arial"/>
              <a:buChar char="•"/>
            </a:pPr>
            <a:r>
              <a:rPr lang="en-US" sz="2147">
                <a:solidFill>
                  <a:srgbClr val="000000"/>
                </a:solidFill>
                <a:latin typeface="Open Sauce"/>
                <a:ea typeface="Open Sauce"/>
                <a:cs typeface="Open Sauce"/>
                <a:sym typeface="Open Sauce"/>
              </a:rPr>
              <a:t>Analysing this data manually makes it difficult to identify important trends and performance patterns.</a:t>
            </a:r>
          </a:p>
          <a:p>
            <a:pPr marL="463614" lvl="1" indent="-231807" algn="l">
              <a:lnSpc>
                <a:spcPts val="3006"/>
              </a:lnSpc>
              <a:buFont typeface="Arial"/>
              <a:buChar char="•"/>
            </a:pPr>
            <a:r>
              <a:rPr lang="en-US" sz="2147">
                <a:solidFill>
                  <a:srgbClr val="000000"/>
                </a:solidFill>
                <a:latin typeface="Open Sauce"/>
                <a:ea typeface="Open Sauce"/>
                <a:cs typeface="Open Sauce"/>
                <a:sym typeface="Open Sauce"/>
              </a:rPr>
              <a:t>It is challenging to identify high-value customers, low-stock products, and variations in sales performance across stores, products, and locations.</a:t>
            </a:r>
          </a:p>
          <a:p>
            <a:pPr marL="463614" lvl="1" indent="-231807" algn="l">
              <a:lnSpc>
                <a:spcPts val="3006"/>
              </a:lnSpc>
              <a:buFont typeface="Arial"/>
              <a:buChar char="•"/>
            </a:pPr>
            <a:r>
              <a:rPr lang="en-US" sz="2147">
                <a:solidFill>
                  <a:srgbClr val="000000"/>
                </a:solidFill>
                <a:latin typeface="Open Sauce"/>
                <a:ea typeface="Open Sauce"/>
                <a:cs typeface="Open Sauce"/>
                <a:sym typeface="Open Sauce"/>
              </a:rPr>
              <a:t>A centralized analytical dashboard is needed to transform the data into clear and actionable business insights.</a:t>
            </a:r>
          </a:p>
          <a:p>
            <a:pPr algn="l">
              <a:lnSpc>
                <a:spcPts val="3006"/>
              </a:lnSpc>
            </a:pPr>
            <a:endParaRPr lang="en-US" sz="2147">
              <a:solidFill>
                <a:srgbClr val="000000"/>
              </a:solidFill>
              <a:latin typeface="Open Sauce"/>
              <a:ea typeface="Open Sauce"/>
              <a:cs typeface="Open Sauce"/>
              <a:sym typeface="Open Sauc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sp>
        <p:nvSpPr>
          <p:cNvPr id="2" name="Freeform 2"/>
          <p:cNvSpPr/>
          <p:nvPr/>
        </p:nvSpPr>
        <p:spPr>
          <a:xfrm>
            <a:off x="1033678" y="7845614"/>
            <a:ext cx="2643060" cy="2413118"/>
          </a:xfrm>
          <a:custGeom>
            <a:avLst/>
            <a:gdLst/>
            <a:ahLst/>
            <a:cxnLst/>
            <a:rect l="l" t="t" r="r" b="b"/>
            <a:pathLst>
              <a:path w="3537750" h="3409104">
                <a:moveTo>
                  <a:pt x="0" y="0"/>
                </a:moveTo>
                <a:lnTo>
                  <a:pt x="3537750" y="0"/>
                </a:lnTo>
                <a:lnTo>
                  <a:pt x="3537750" y="3409104"/>
                </a:lnTo>
                <a:lnTo>
                  <a:pt x="0" y="340910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610281">
            <a:off x="16885722" y="147175"/>
            <a:ext cx="1724594" cy="649074"/>
          </a:xfrm>
          <a:custGeom>
            <a:avLst/>
            <a:gdLst/>
            <a:ahLst/>
            <a:cxnLst/>
            <a:rect l="l" t="t" r="r" b="b"/>
            <a:pathLst>
              <a:path w="1724594" h="649074">
                <a:moveTo>
                  <a:pt x="0" y="0"/>
                </a:moveTo>
                <a:lnTo>
                  <a:pt x="1724594" y="0"/>
                </a:lnTo>
                <a:lnTo>
                  <a:pt x="1724594" y="649074"/>
                </a:lnTo>
                <a:lnTo>
                  <a:pt x="0" y="6490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4290546">
            <a:off x="-94664" y="-736075"/>
            <a:ext cx="2246727" cy="2427463"/>
          </a:xfrm>
          <a:custGeom>
            <a:avLst/>
            <a:gdLst/>
            <a:ahLst/>
            <a:cxnLst/>
            <a:rect l="l" t="t" r="r" b="b"/>
            <a:pathLst>
              <a:path w="2246727" h="2427463">
                <a:moveTo>
                  <a:pt x="0" y="0"/>
                </a:moveTo>
                <a:lnTo>
                  <a:pt x="2246728" y="0"/>
                </a:lnTo>
                <a:lnTo>
                  <a:pt x="2246728" y="2427463"/>
                </a:lnTo>
                <a:lnTo>
                  <a:pt x="0" y="242746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2560854" y="1968382"/>
            <a:ext cx="13371938" cy="7489068"/>
          </a:xfrm>
          <a:custGeom>
            <a:avLst/>
            <a:gdLst/>
            <a:ahLst/>
            <a:cxnLst/>
            <a:rect l="l" t="t" r="r" b="b"/>
            <a:pathLst>
              <a:path w="13371938" h="7489068">
                <a:moveTo>
                  <a:pt x="0" y="0"/>
                </a:moveTo>
                <a:lnTo>
                  <a:pt x="13371938" y="0"/>
                </a:lnTo>
                <a:lnTo>
                  <a:pt x="13371938" y="7489068"/>
                </a:lnTo>
                <a:lnTo>
                  <a:pt x="0" y="7489068"/>
                </a:lnTo>
                <a:lnTo>
                  <a:pt x="0" y="0"/>
                </a:lnTo>
                <a:close/>
              </a:path>
            </a:pathLst>
          </a:custGeom>
          <a:blipFill>
            <a:blip r:embed="rId5"/>
            <a:stretch>
              <a:fillRect l="-5" r="-5"/>
            </a:stretch>
          </a:blipFill>
        </p:spPr>
      </p:sp>
      <p:sp>
        <p:nvSpPr>
          <p:cNvPr id="6" name="TextBox 6"/>
          <p:cNvSpPr txBox="1"/>
          <p:nvPr/>
        </p:nvSpPr>
        <p:spPr>
          <a:xfrm>
            <a:off x="4285117" y="285503"/>
            <a:ext cx="9161144" cy="1068070"/>
          </a:xfrm>
          <a:prstGeom prst="rect">
            <a:avLst/>
          </a:prstGeom>
        </p:spPr>
        <p:txBody>
          <a:bodyPr lIns="0" tIns="0" rIns="0" bIns="0" rtlCol="0" anchor="t">
            <a:spAutoFit/>
          </a:bodyPr>
          <a:lstStyle/>
          <a:p>
            <a:pPr algn="l">
              <a:lnSpc>
                <a:spcPts val="6800"/>
              </a:lnSpc>
            </a:pPr>
            <a:r>
              <a:rPr lang="en-US" sz="6800">
                <a:solidFill>
                  <a:srgbClr val="000000"/>
                </a:solidFill>
                <a:latin typeface="Heading Now 71-78"/>
                <a:ea typeface="Heading Now 71-78"/>
                <a:cs typeface="Heading Now 71-78"/>
                <a:sym typeface="Heading Now 71-78"/>
              </a:rPr>
              <a:t>Sale Performance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sp>
        <p:nvSpPr>
          <p:cNvPr id="2" name="Freeform 2"/>
          <p:cNvSpPr/>
          <p:nvPr/>
        </p:nvSpPr>
        <p:spPr>
          <a:xfrm rot="-610281">
            <a:off x="16885722" y="147175"/>
            <a:ext cx="1724594" cy="649074"/>
          </a:xfrm>
          <a:custGeom>
            <a:avLst/>
            <a:gdLst/>
            <a:ahLst/>
            <a:cxnLst/>
            <a:rect l="l" t="t" r="r" b="b"/>
            <a:pathLst>
              <a:path w="1724594" h="649074">
                <a:moveTo>
                  <a:pt x="0" y="0"/>
                </a:moveTo>
                <a:lnTo>
                  <a:pt x="1724594" y="0"/>
                </a:lnTo>
                <a:lnTo>
                  <a:pt x="1724594" y="649074"/>
                </a:lnTo>
                <a:lnTo>
                  <a:pt x="0" y="6490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4290546">
            <a:off x="-94664" y="-736075"/>
            <a:ext cx="2246727" cy="2427463"/>
          </a:xfrm>
          <a:custGeom>
            <a:avLst/>
            <a:gdLst/>
            <a:ahLst/>
            <a:cxnLst/>
            <a:rect l="l" t="t" r="r" b="b"/>
            <a:pathLst>
              <a:path w="2246727" h="2427463">
                <a:moveTo>
                  <a:pt x="0" y="0"/>
                </a:moveTo>
                <a:lnTo>
                  <a:pt x="2246728" y="0"/>
                </a:lnTo>
                <a:lnTo>
                  <a:pt x="2246728" y="2427463"/>
                </a:lnTo>
                <a:lnTo>
                  <a:pt x="0" y="242746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824801" y="1757265"/>
            <a:ext cx="14289543" cy="8098484"/>
          </a:xfrm>
          <a:custGeom>
            <a:avLst/>
            <a:gdLst/>
            <a:ahLst/>
            <a:cxnLst/>
            <a:rect l="l" t="t" r="r" b="b"/>
            <a:pathLst>
              <a:path w="14289543" h="8098484">
                <a:moveTo>
                  <a:pt x="0" y="0"/>
                </a:moveTo>
                <a:lnTo>
                  <a:pt x="14289543" y="0"/>
                </a:lnTo>
                <a:lnTo>
                  <a:pt x="14289543" y="8098484"/>
                </a:lnTo>
                <a:lnTo>
                  <a:pt x="0" y="8098484"/>
                </a:lnTo>
                <a:lnTo>
                  <a:pt x="0" y="0"/>
                </a:lnTo>
                <a:close/>
              </a:path>
            </a:pathLst>
          </a:custGeom>
          <a:blipFill>
            <a:blip r:embed="rId4"/>
            <a:stretch>
              <a:fillRect l="-32" r="-32" b="-241"/>
            </a:stretch>
          </a:blipFill>
        </p:spPr>
      </p:sp>
      <p:sp>
        <p:nvSpPr>
          <p:cNvPr id="5" name="TextBox 5"/>
          <p:cNvSpPr txBox="1"/>
          <p:nvPr/>
        </p:nvSpPr>
        <p:spPr>
          <a:xfrm>
            <a:off x="4285117" y="285503"/>
            <a:ext cx="9161144" cy="1068070"/>
          </a:xfrm>
          <a:prstGeom prst="rect">
            <a:avLst/>
          </a:prstGeom>
        </p:spPr>
        <p:txBody>
          <a:bodyPr lIns="0" tIns="0" rIns="0" bIns="0" rtlCol="0" anchor="t">
            <a:spAutoFit/>
          </a:bodyPr>
          <a:lstStyle/>
          <a:p>
            <a:pPr algn="l">
              <a:lnSpc>
                <a:spcPts val="6800"/>
              </a:lnSpc>
            </a:pPr>
            <a:r>
              <a:rPr lang="en-US" sz="6800">
                <a:solidFill>
                  <a:srgbClr val="000000"/>
                </a:solidFill>
                <a:latin typeface="Heading Now 71-78"/>
                <a:ea typeface="Heading Now 71-78"/>
                <a:cs typeface="Heading Now 71-78"/>
                <a:sym typeface="Heading Now 71-78"/>
              </a:rPr>
              <a:t>Order Performance </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3"/>
        </a:solidFill>
        <a:effectLst/>
      </p:bgPr>
    </p:bg>
    <p:spTree>
      <p:nvGrpSpPr>
        <p:cNvPr id="1" name=""/>
        <p:cNvGrpSpPr/>
        <p:nvPr/>
      </p:nvGrpSpPr>
      <p:grpSpPr>
        <a:xfrm>
          <a:off x="0" y="0"/>
          <a:ext cx="0" cy="0"/>
          <a:chOff x="0" y="0"/>
          <a:chExt cx="0" cy="0"/>
        </a:xfrm>
      </p:grpSpPr>
      <p:sp>
        <p:nvSpPr>
          <p:cNvPr id="2" name="Freeform 2"/>
          <p:cNvSpPr/>
          <p:nvPr/>
        </p:nvSpPr>
        <p:spPr>
          <a:xfrm>
            <a:off x="2560854" y="1968382"/>
            <a:ext cx="13371938" cy="7489068"/>
          </a:xfrm>
          <a:custGeom>
            <a:avLst/>
            <a:gdLst/>
            <a:ahLst/>
            <a:cxnLst/>
            <a:rect l="l" t="t" r="r" b="b"/>
            <a:pathLst>
              <a:path w="13371938" h="7489068">
                <a:moveTo>
                  <a:pt x="0" y="0"/>
                </a:moveTo>
                <a:lnTo>
                  <a:pt x="13371938" y="0"/>
                </a:lnTo>
                <a:lnTo>
                  <a:pt x="13371938" y="7489068"/>
                </a:lnTo>
                <a:lnTo>
                  <a:pt x="0" y="7489068"/>
                </a:lnTo>
                <a:lnTo>
                  <a:pt x="0" y="0"/>
                </a:lnTo>
                <a:close/>
              </a:path>
            </a:pathLst>
          </a:custGeom>
          <a:blipFill>
            <a:blip r:embed="rId2"/>
            <a:stretch>
              <a:fillRect l="-271" t="-805" b="-1047"/>
            </a:stretch>
          </a:blipFill>
        </p:spPr>
      </p:sp>
      <p:sp>
        <p:nvSpPr>
          <p:cNvPr id="3" name="TextBox 3"/>
          <p:cNvSpPr txBox="1"/>
          <p:nvPr/>
        </p:nvSpPr>
        <p:spPr>
          <a:xfrm>
            <a:off x="6219715" y="285503"/>
            <a:ext cx="9161144" cy="1068070"/>
          </a:xfrm>
          <a:prstGeom prst="rect">
            <a:avLst/>
          </a:prstGeom>
        </p:spPr>
        <p:txBody>
          <a:bodyPr lIns="0" tIns="0" rIns="0" bIns="0" rtlCol="0" anchor="t">
            <a:spAutoFit/>
          </a:bodyPr>
          <a:lstStyle/>
          <a:p>
            <a:pPr algn="l">
              <a:lnSpc>
                <a:spcPts val="6800"/>
              </a:lnSpc>
            </a:pPr>
            <a:r>
              <a:rPr lang="en-US" sz="6800">
                <a:solidFill>
                  <a:srgbClr val="000000"/>
                </a:solidFill>
                <a:latin typeface="Heading Now 71-78"/>
                <a:ea typeface="Heading Now 71-78"/>
                <a:cs typeface="Heading Now 71-78"/>
                <a:sym typeface="Heading Now 71-78"/>
              </a:rPr>
              <a:t>Inventory</a:t>
            </a:r>
          </a:p>
        </p:txBody>
      </p:sp>
      <p:sp>
        <p:nvSpPr>
          <p:cNvPr id="4" name="Freeform 4"/>
          <p:cNvSpPr/>
          <p:nvPr/>
        </p:nvSpPr>
        <p:spPr>
          <a:xfrm rot="-610281">
            <a:off x="16885722" y="147175"/>
            <a:ext cx="1724594" cy="649074"/>
          </a:xfrm>
          <a:custGeom>
            <a:avLst/>
            <a:gdLst/>
            <a:ahLst/>
            <a:cxnLst/>
            <a:rect l="l" t="t" r="r" b="b"/>
            <a:pathLst>
              <a:path w="1724594" h="649074">
                <a:moveTo>
                  <a:pt x="0" y="0"/>
                </a:moveTo>
                <a:lnTo>
                  <a:pt x="1724594" y="0"/>
                </a:lnTo>
                <a:lnTo>
                  <a:pt x="1724594" y="649074"/>
                </a:lnTo>
                <a:lnTo>
                  <a:pt x="0" y="6490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4290546">
            <a:off x="-94664" y="-736075"/>
            <a:ext cx="2246727" cy="2427463"/>
          </a:xfrm>
          <a:custGeom>
            <a:avLst/>
            <a:gdLst/>
            <a:ahLst/>
            <a:cxnLst/>
            <a:rect l="l" t="t" r="r" b="b"/>
            <a:pathLst>
              <a:path w="2246727" h="2427463">
                <a:moveTo>
                  <a:pt x="0" y="0"/>
                </a:moveTo>
                <a:lnTo>
                  <a:pt x="2246728" y="0"/>
                </a:lnTo>
                <a:lnTo>
                  <a:pt x="2246728" y="2427463"/>
                </a:lnTo>
                <a:lnTo>
                  <a:pt x="0" y="2427463"/>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581" y="1276350"/>
            <a:ext cx="8342982" cy="5632486"/>
            <a:chOff x="0" y="0"/>
            <a:chExt cx="1492923" cy="954549"/>
          </a:xfrm>
        </p:grpSpPr>
        <p:sp>
          <p:nvSpPr>
            <p:cNvPr id="3" name="Freeform 3"/>
            <p:cNvSpPr/>
            <p:nvPr/>
          </p:nvSpPr>
          <p:spPr>
            <a:xfrm>
              <a:off x="0" y="0"/>
              <a:ext cx="1492923" cy="954549"/>
            </a:xfrm>
            <a:custGeom>
              <a:avLst/>
              <a:gdLst/>
              <a:ahLst/>
              <a:cxnLst/>
              <a:rect l="l" t="t" r="r" b="b"/>
              <a:pathLst>
                <a:path w="1492923" h="954549">
                  <a:moveTo>
                    <a:pt x="26365" y="0"/>
                  </a:moveTo>
                  <a:lnTo>
                    <a:pt x="1466558" y="0"/>
                  </a:lnTo>
                  <a:cubicBezTo>
                    <a:pt x="1473550" y="0"/>
                    <a:pt x="1480256" y="2778"/>
                    <a:pt x="1485201" y="7722"/>
                  </a:cubicBezTo>
                  <a:cubicBezTo>
                    <a:pt x="1490145" y="12667"/>
                    <a:pt x="1492923" y="19373"/>
                    <a:pt x="1492923" y="26365"/>
                  </a:cubicBezTo>
                  <a:lnTo>
                    <a:pt x="1492923" y="928184"/>
                  </a:lnTo>
                  <a:cubicBezTo>
                    <a:pt x="1492923" y="942745"/>
                    <a:pt x="1481119" y="954549"/>
                    <a:pt x="1466558" y="954549"/>
                  </a:cubicBezTo>
                  <a:lnTo>
                    <a:pt x="26365" y="954549"/>
                  </a:lnTo>
                  <a:cubicBezTo>
                    <a:pt x="11804" y="954549"/>
                    <a:pt x="0" y="942745"/>
                    <a:pt x="0" y="928184"/>
                  </a:cubicBezTo>
                  <a:lnTo>
                    <a:pt x="0" y="26365"/>
                  </a:lnTo>
                  <a:cubicBezTo>
                    <a:pt x="0" y="11804"/>
                    <a:pt x="11804" y="0"/>
                    <a:pt x="26365" y="0"/>
                  </a:cubicBezTo>
                  <a:close/>
                </a:path>
              </a:pathLst>
            </a:custGeom>
            <a:solidFill>
              <a:srgbClr val="FCF3D4"/>
            </a:solidFill>
          </p:spPr>
        </p:sp>
      </p:grpSp>
      <p:sp>
        <p:nvSpPr>
          <p:cNvPr id="4" name="Freeform 4"/>
          <p:cNvSpPr/>
          <p:nvPr/>
        </p:nvSpPr>
        <p:spPr>
          <a:xfrm>
            <a:off x="1422717" y="1380762"/>
            <a:ext cx="5628328" cy="5423662"/>
          </a:xfrm>
          <a:custGeom>
            <a:avLst/>
            <a:gdLst/>
            <a:ahLst/>
            <a:cxnLst/>
            <a:rect l="l" t="t" r="r" b="b"/>
            <a:pathLst>
              <a:path w="5628328" h="5423662">
                <a:moveTo>
                  <a:pt x="0" y="0"/>
                </a:moveTo>
                <a:lnTo>
                  <a:pt x="5628328" y="0"/>
                </a:lnTo>
                <a:lnTo>
                  <a:pt x="5628328" y="5423662"/>
                </a:lnTo>
                <a:lnTo>
                  <a:pt x="0" y="54236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5085991" y="2851463"/>
            <a:ext cx="3103497" cy="2990642"/>
          </a:xfrm>
          <a:custGeom>
            <a:avLst/>
            <a:gdLst/>
            <a:ahLst/>
            <a:cxnLst/>
            <a:rect l="l" t="t" r="r" b="b"/>
            <a:pathLst>
              <a:path w="3103497" h="2990642">
                <a:moveTo>
                  <a:pt x="0" y="0"/>
                </a:moveTo>
                <a:lnTo>
                  <a:pt x="3103496" y="0"/>
                </a:lnTo>
                <a:lnTo>
                  <a:pt x="3103496" y="2990642"/>
                </a:lnTo>
                <a:lnTo>
                  <a:pt x="0" y="299064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9873912" y="1247012"/>
            <a:ext cx="4904400" cy="1068070"/>
          </a:xfrm>
          <a:prstGeom prst="rect">
            <a:avLst/>
          </a:prstGeom>
        </p:spPr>
        <p:txBody>
          <a:bodyPr lIns="0" tIns="0" rIns="0" bIns="0" rtlCol="0" anchor="t">
            <a:spAutoFit/>
          </a:bodyPr>
          <a:lstStyle/>
          <a:p>
            <a:pPr algn="l">
              <a:lnSpc>
                <a:spcPts val="6800"/>
              </a:lnSpc>
            </a:pPr>
            <a:r>
              <a:rPr lang="en-US" sz="6800" spc="-374">
                <a:solidFill>
                  <a:srgbClr val="0B0A0A"/>
                </a:solidFill>
                <a:latin typeface="Heading Now 71-78"/>
                <a:ea typeface="Heading Now 71-78"/>
                <a:cs typeface="Heading Now 71-78"/>
                <a:sym typeface="Heading Now 71-78"/>
              </a:rPr>
              <a:t>Conclusion</a:t>
            </a:r>
          </a:p>
        </p:txBody>
      </p:sp>
      <p:sp>
        <p:nvSpPr>
          <p:cNvPr id="7" name="TextBox 7"/>
          <p:cNvSpPr txBox="1"/>
          <p:nvPr/>
        </p:nvSpPr>
        <p:spPr>
          <a:xfrm>
            <a:off x="9712838" y="2361148"/>
            <a:ext cx="7508361" cy="4628318"/>
          </a:xfrm>
          <a:prstGeom prst="rect">
            <a:avLst/>
          </a:prstGeom>
        </p:spPr>
        <p:txBody>
          <a:bodyPr wrap="square" lIns="0" tIns="0" rIns="0" bIns="0" rtlCol="0" anchor="t">
            <a:spAutoFit/>
          </a:bodyPr>
          <a:lstStyle/>
          <a:p>
            <a:pPr marL="226515" lvl="1" algn="just">
              <a:lnSpc>
                <a:spcPts val="3315"/>
              </a:lnSpc>
            </a:pPr>
            <a:r>
              <a:rPr lang="en-IN" sz="2400" dirty="0"/>
              <a:t>This project helped me transform cleaned data into meaningful business insights. I used Excel for data preparation, SQL for business analysis, Python for RFM-based customer segmentation, and Power BI for interactive visualization. </a:t>
            </a:r>
          </a:p>
          <a:p>
            <a:pPr marL="226515" lvl="1" algn="just">
              <a:lnSpc>
                <a:spcPts val="3315"/>
              </a:lnSpc>
            </a:pPr>
            <a:r>
              <a:rPr lang="en-IN" sz="2400" dirty="0"/>
              <a:t>Through this analysis, I was able to understand sales performance, inventory conditions, and customer </a:t>
            </a:r>
            <a:r>
              <a:rPr lang="en-IN" sz="2400" dirty="0" err="1"/>
              <a:t>behavior</a:t>
            </a:r>
            <a:r>
              <a:rPr lang="en-IN" sz="2400" dirty="0"/>
              <a:t>. </a:t>
            </a:r>
          </a:p>
          <a:p>
            <a:pPr marL="226515" lvl="1" algn="just">
              <a:lnSpc>
                <a:spcPts val="3315"/>
              </a:lnSpc>
            </a:pPr>
            <a:r>
              <a:rPr lang="en-IN" sz="2400" dirty="0"/>
              <a:t>This project also helped me understand how different data analytics tools can be combined to solve a business problem and support data-driven decision-making. </a:t>
            </a:r>
            <a:endParaRPr lang="en-US" sz="2400" spc="-41" dirty="0">
              <a:solidFill>
                <a:srgbClr val="0B0A0A"/>
              </a:solidFill>
              <a:latin typeface="Open Sauce"/>
              <a:ea typeface="Open Sauce"/>
              <a:cs typeface="Open Sauce"/>
              <a:sym typeface="Open Sauce"/>
            </a:endParaRPr>
          </a:p>
        </p:txBody>
      </p:sp>
      <p:sp>
        <p:nvSpPr>
          <p:cNvPr id="8" name="Freeform 8"/>
          <p:cNvSpPr/>
          <p:nvPr/>
        </p:nvSpPr>
        <p:spPr>
          <a:xfrm>
            <a:off x="724785" y="1489426"/>
            <a:ext cx="1022766" cy="1362037"/>
          </a:xfrm>
          <a:custGeom>
            <a:avLst/>
            <a:gdLst/>
            <a:ahLst/>
            <a:cxnLst/>
            <a:rect l="l" t="t" r="r" b="b"/>
            <a:pathLst>
              <a:path w="1022766" h="1362037">
                <a:moveTo>
                  <a:pt x="0" y="0"/>
                </a:moveTo>
                <a:lnTo>
                  <a:pt x="1022766" y="0"/>
                </a:lnTo>
                <a:lnTo>
                  <a:pt x="1022766" y="1362037"/>
                </a:lnTo>
                <a:lnTo>
                  <a:pt x="0" y="136203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800023">
            <a:off x="7693576" y="6259184"/>
            <a:ext cx="1376732" cy="518152"/>
          </a:xfrm>
          <a:custGeom>
            <a:avLst/>
            <a:gdLst/>
            <a:ahLst/>
            <a:cxnLst/>
            <a:rect l="l" t="t" r="r" b="b"/>
            <a:pathLst>
              <a:path w="1376732" h="518152">
                <a:moveTo>
                  <a:pt x="0" y="0"/>
                </a:moveTo>
                <a:lnTo>
                  <a:pt x="1376732" y="0"/>
                </a:lnTo>
                <a:lnTo>
                  <a:pt x="1376732" y="518152"/>
                </a:lnTo>
                <a:lnTo>
                  <a:pt x="0" y="51815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0" name="Freeform 10"/>
          <p:cNvSpPr/>
          <p:nvPr/>
        </p:nvSpPr>
        <p:spPr>
          <a:xfrm rot="10119928">
            <a:off x="175688" y="8763239"/>
            <a:ext cx="1822080" cy="1968655"/>
          </a:xfrm>
          <a:custGeom>
            <a:avLst/>
            <a:gdLst/>
            <a:ahLst/>
            <a:cxnLst/>
            <a:rect l="l" t="t" r="r" b="b"/>
            <a:pathLst>
              <a:path w="1822080" h="1968655">
                <a:moveTo>
                  <a:pt x="0" y="0"/>
                </a:moveTo>
                <a:lnTo>
                  <a:pt x="1822080" y="0"/>
                </a:lnTo>
                <a:lnTo>
                  <a:pt x="1822080" y="1968655"/>
                </a:lnTo>
                <a:lnTo>
                  <a:pt x="0" y="196865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1" name="Freeform 11"/>
          <p:cNvSpPr/>
          <p:nvPr/>
        </p:nvSpPr>
        <p:spPr>
          <a:xfrm>
            <a:off x="15085991" y="1028700"/>
            <a:ext cx="579543" cy="828903"/>
          </a:xfrm>
          <a:custGeom>
            <a:avLst/>
            <a:gdLst/>
            <a:ahLst/>
            <a:cxnLst/>
            <a:rect l="l" t="t" r="r" b="b"/>
            <a:pathLst>
              <a:path w="579543" h="828903">
                <a:moveTo>
                  <a:pt x="0" y="0"/>
                </a:moveTo>
                <a:lnTo>
                  <a:pt x="579542" y="0"/>
                </a:lnTo>
                <a:lnTo>
                  <a:pt x="579542" y="828903"/>
                </a:lnTo>
                <a:lnTo>
                  <a:pt x="0" y="828903"/>
                </a:lnTo>
                <a:lnTo>
                  <a:pt x="0" y="0"/>
                </a:lnTo>
                <a:close/>
              </a:path>
            </a:pathLst>
          </a:custGeom>
          <a:blipFill>
            <a:blip>
              <a:extLst>
                <a:ext uri="{96DAC541-7B7A-43D3-8B79-37D633B846F1}">
                  <asvg:svgBlip xmlns:asvg="http://schemas.microsoft.com/office/drawing/2016/SVG/main" r:embed="rId4"/>
                </a:ext>
              </a:extLst>
            </a:blip>
            <a:stretch>
              <a:fillRect r="-55242" b="-44545"/>
            </a:stretch>
          </a:blipFill>
        </p:spPr>
      </p:sp>
      <p:sp>
        <p:nvSpPr>
          <p:cNvPr id="12" name="TextBox 12"/>
          <p:cNvSpPr txBox="1"/>
          <p:nvPr/>
        </p:nvSpPr>
        <p:spPr>
          <a:xfrm>
            <a:off x="14445092" y="7297317"/>
            <a:ext cx="2440883" cy="531658"/>
          </a:xfrm>
          <a:prstGeom prst="rect">
            <a:avLst/>
          </a:prstGeom>
        </p:spPr>
        <p:txBody>
          <a:bodyPr lIns="0" tIns="0" rIns="0" bIns="0" rtlCol="0" anchor="t">
            <a:spAutoFit/>
          </a:bodyPr>
          <a:lstStyle/>
          <a:p>
            <a:pPr algn="l">
              <a:lnSpc>
                <a:spcPts val="3384"/>
              </a:lnSpc>
            </a:pPr>
            <a:r>
              <a:rPr lang="en-US" sz="3384" spc="-186" dirty="0">
                <a:solidFill>
                  <a:srgbClr val="0B0A0A"/>
                </a:solidFill>
                <a:latin typeface="Heading Now 71-78"/>
                <a:ea typeface="Heading Now 71-78"/>
                <a:cs typeface="Heading Now 71-78"/>
                <a:sym typeface="Heading Now 71-78"/>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TotalTime>
  <Words>258</Words>
  <Application>Microsoft Office PowerPoint</Application>
  <PresentationFormat>Custom</PresentationFormat>
  <Paragraphs>21</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Heading Now 71-78</vt:lpstr>
      <vt:lpstr>Arial</vt:lpstr>
      <vt:lpstr>Open Sauce</vt:lpstr>
      <vt:lpstr>Open Sauce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SURENDARSAI K</dc:title>
  <cp:lastModifiedBy>SURENDAR SAI</cp:lastModifiedBy>
  <cp:revision>7</cp:revision>
  <dcterms:created xsi:type="dcterms:W3CDTF">2006-08-16T00:00:00Z</dcterms:created>
  <dcterms:modified xsi:type="dcterms:W3CDTF">2026-08-23T18:12:19Z</dcterms:modified>
  <dc:identifier>DAHS2mvSRYc</dc:identifier>
</cp:coreProperties>
</file>